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8" r:id="rId1"/>
  </p:sldMasterIdLst>
  <p:notesMasterIdLst>
    <p:notesMasterId r:id="rId23"/>
  </p:notesMasterIdLst>
  <p:sldIdLst>
    <p:sldId id="256" r:id="rId2"/>
    <p:sldId id="272" r:id="rId3"/>
    <p:sldId id="286" r:id="rId4"/>
    <p:sldId id="288" r:id="rId5"/>
    <p:sldId id="289" r:id="rId6"/>
    <p:sldId id="327" r:id="rId7"/>
    <p:sldId id="328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259" r:id="rId22"/>
  </p:sldIdLst>
  <p:sldSz cx="12192000" cy="6858000"/>
  <p:notesSz cx="6858000" cy="9144000"/>
  <p:embeddedFontLst>
    <p:embeddedFont>
      <p:font typeface="Lato Black" panose="020F0502020204030203" pitchFamily="34" charset="0"/>
      <p:bold r:id="rId24"/>
      <p:boldItalic r:id="rId25"/>
    </p:embeddedFont>
    <p:embeddedFont>
      <p:font typeface="Libre Baskerville" panose="02000000000000000000" pitchFamily="2" charset="0"/>
      <p:regular r:id="rId26"/>
      <p:bold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703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549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24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ED7B-C585-4DD3-E5C6-8C69EFC9D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A462-160B-E693-9346-B91C72511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896F-37FF-5EEF-A8CB-A4F0AFDD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AFE5-00DB-44AE-B1DD-ECE0427A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EBF4-0953-D151-0721-21196D4C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6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CF54-C0F0-43D5-C487-DAF3E423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F5B2-C208-2151-BF93-A3EFE6E1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C90B-4986-318E-0A1C-1071E874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F0721-FADA-CEE1-3BD0-204E980C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C5D7-F783-0B73-8866-B235F3C9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44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F4BC-80FF-EA37-59DD-CE6593065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1E316-CEB0-39AE-F783-3A3BB2F0B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93D8-F215-C97C-2CA3-4FDA0195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9979-6A64-99CD-0124-A41A593D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A583A-86AC-7394-FF1C-ACB56BEB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5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3DC0-984B-C632-A1A6-F4148BEC9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FF5C1-AF55-762A-23A5-BE5098F29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5D83E-298E-3D6D-EB61-8CF8D88FC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270CD-383E-5CD4-82E1-001CA791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B4917-7AA5-FEBC-E311-BF0B9D78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E2091-D223-2CB7-B3F5-F340BCAD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4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7BF3-DF10-10AB-9C7F-8E650705B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2D201-6525-C47D-0972-B61D54601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4B5D9-BEA4-8F2E-C95C-6553AE8EB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DEFD2-5AEB-4314-96F6-24309CFF0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95861-ADEE-5E63-4D34-7C366F8EC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6F9B4-9BD1-A103-E0DC-AE2F323D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F4A76-B10F-2F1B-8FE3-B5215207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24FA6-7E46-CCEA-94A2-540A3CE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4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86AE-E45E-BDE5-D45A-1FB4F96A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81693-0E92-4C06-EFFD-75FB4CE3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2A89E-4869-2F75-9009-FD8E4114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127A4-0B06-CB81-AEC4-606E81F4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2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B6805-0510-DE21-349A-FE233C98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112D1-2EF8-D0F8-61AA-16E4A262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7ED3A-CA76-6BCE-1F0E-B5E6CBAC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27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2914-9B89-7DD6-EC21-B513E467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1A65-14B9-1887-EEFA-E833A9A62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64BE5-7E65-A404-C4E4-8FAAC49F8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F419-594E-9232-9F50-C9F7E775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C3310-163D-5202-AEA5-FCCB0E8D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A242-B1E8-E0C6-49C8-9088E6FF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23D8-EC79-4E25-03B6-C380BD35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6CC4-2916-298C-3F02-36C2D88E9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A6B5D-9ED1-5D0F-E347-B9BCACB38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DCDC5-5C70-1DB3-8B50-FE441C40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C5F3-5E9B-301C-241B-37189F4A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3F89-2CAC-BD0B-1FA6-3212F4BD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86640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78DF-AF8E-BAD6-ED68-5DBE407E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601CB-352E-597E-4B04-2254D95E7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269CE-4D04-9BCF-B788-770F149E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8DCA1-5D38-3B1D-4410-39617A8C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2D95-C46F-D4CF-ACD7-4D8D8B88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2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C9C77-D13E-BABF-F700-F58B36397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5B0FE-A53B-7F99-832A-FC0E727F7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E0CE-B33A-8CF6-BA0D-9115B9A1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AD8F3-6DC9-771A-9DB9-F6E0093B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385D1-F3E3-CF85-E0E2-659DA5AF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2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23604-6849-AAFA-D6AB-5C1FD9C4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EF7B-E915-798C-B28E-CE6C2C2E9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1498C-342A-65CD-9926-58F33FE9C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F0C45-9F2A-325F-4C98-17087E93D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ADFD-88A5-63C8-FF9F-D4FA1C1E9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kar42" TargetMode="External"/><Relationship Id="rId2" Type="http://schemas.openxmlformats.org/officeDocument/2006/relationships/hyperlink" Target="https://www.linkedin.com/in/emmadi-srikar-03baaa33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5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793401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Swiggy Delivery Time Prediction </a:t>
            </a:r>
            <a:endParaRPr sz="3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47615-D82F-DF0B-5663-5B8450D4CC01}"/>
              </a:ext>
            </a:extLst>
          </p:cNvPr>
          <p:cNvSpPr txBox="1"/>
          <p:nvPr/>
        </p:nvSpPr>
        <p:spPr>
          <a:xfrm>
            <a:off x="7984504" y="5194169"/>
            <a:ext cx="3233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800"/>
            </a:pP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Emmadi Srikar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 No :436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Innomatics Research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Labs Dilshuknagar         </a:t>
            </a:r>
            <a:r>
              <a:rPr lang="en-IN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26D-9A0D-1E88-9A25-F325A972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  <a:buFont typeface="Arial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Arial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1EFCE-000B-1866-51F4-B884E1FB9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Emmadi Srikar.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from St Mary’s Group of Institution Hyderabad.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https://www.linkedin.com/in/emmadi-srikar-03baaa337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https://github.com/srikar42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9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DE4-402E-FC2B-EAFD-CA18F47D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824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1BEC-7190-FECC-9D87-502FB2085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5" y="1108803"/>
            <a:ext cx="10515600" cy="4678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CRISP-ML(Q) Methodology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Encoding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&amp; Selection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6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60E9-FB19-69FA-79B3-84864A5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42" y="395927"/>
            <a:ext cx="10590229" cy="97096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: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35C5-462F-B7D4-1A3D-9D3A6E30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42" y="1611984"/>
            <a:ext cx="10590229" cy="4128939"/>
          </a:xfrm>
        </p:spPr>
        <p:txBody>
          <a:bodyPr>
            <a:normAutofit fontScale="77500" lnSpcReduction="20000"/>
          </a:bodyPr>
          <a:lstStyle/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Swiggy processes millions of food-delivery journeys across hundreds of cities every month. Accurate Estimated Time of Arrival (ETA) at order placement and during delivery is core to the customer experience — it affects conversion, cancellations, ratings, and retention. Today’s ETA accuracy suffers from many sources of uncertainty: highly variable traffic patterns, weather events, restaurant preparation variability, rider </a:t>
            </a:r>
            <a:r>
              <a:rPr lang="en-US" dirty="0" err="1"/>
              <a:t>behaviour</a:t>
            </a:r>
            <a:r>
              <a:rPr lang="en-US" dirty="0"/>
              <a:t> and skill, order batching/multiple deliveries, and city-specific operational constraints. 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Inaccurate ETAs cause: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 ● Reduced customer trust and lower repeat orders. 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● Increased cancellations and refund costs.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 ● Higher support volume and operational interventions. 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dirty="0"/>
              <a:t>● Sub-optimal rider allocation and increased rider idle or overtime costs.</a:t>
            </a:r>
            <a:endParaRPr lang="en-IN" dirty="0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E29383A9-E698-76F3-ABAF-B89ECC498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7761" y="-8097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EF8C-9AD6-674A-7734-938BF699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4"/>
            <a:ext cx="10637363" cy="122548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16FBD-DFD6-B2BD-9B02-2C665DC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6" y="1791093"/>
            <a:ext cx="10637362" cy="3704734"/>
          </a:xfrm>
        </p:spPr>
        <p:txBody>
          <a:bodyPr vert="horz" wrap="square" anchor="t" anchorCtr="0">
            <a:noAutofit/>
          </a:bodyPr>
          <a:lstStyle/>
          <a:p>
            <a:pPr marL="0" indent="0">
              <a:buNone/>
            </a:pPr>
            <a:r>
              <a:rPr lang="en-US" sz="2200" dirty="0"/>
              <a:t>Swiggy’s objective is to predict the delivery time (minutes) per order at the moment of order placement (and update it dynamically), with business-grade accuracy and uncertainty estimates so the platform can</a:t>
            </a:r>
          </a:p>
          <a:p>
            <a:pPr marL="0" indent="0">
              <a:buNone/>
            </a:pPr>
            <a:r>
              <a:rPr lang="en-US" sz="2200" dirty="0"/>
              <a:t> (a) show reliable ETAs to customers</a:t>
            </a:r>
          </a:p>
          <a:p>
            <a:pPr marL="0" indent="0">
              <a:buNone/>
            </a:pPr>
            <a:r>
              <a:rPr lang="en-US" sz="2200" dirty="0"/>
              <a:t> (b) optimize rider allocation. Building a production-ready, scalable Machine Learning system that predicts per-order delivery time (in minutes) using real-time and historical features (order, rider, restaurant, traffic, weather, and temporal signals)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64687-427F-90BD-344C-1080BBE94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985C-A761-5FF8-109B-EC2C8E91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98" y="346273"/>
            <a:ext cx="10515600" cy="104889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CRISP-ML(Q) Methodology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6B0E6-86CC-1E4D-71AB-29CEF8BD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/>
          <a:lstStyle/>
          <a:p>
            <a:r>
              <a:rPr lang="en-IN" sz="2200" dirty="0"/>
              <a:t>Business &amp; Data Understanding</a:t>
            </a:r>
          </a:p>
          <a:p>
            <a:endParaRPr lang="en-IN" sz="2200" dirty="0"/>
          </a:p>
          <a:p>
            <a:r>
              <a:rPr lang="en-IN" sz="2200" dirty="0"/>
              <a:t>Data Preparation (cleaning, encoding, scaling)</a:t>
            </a:r>
          </a:p>
          <a:p>
            <a:endParaRPr lang="en-IN" sz="2200" dirty="0"/>
          </a:p>
          <a:p>
            <a:r>
              <a:rPr lang="en-IN" sz="2200" dirty="0" err="1"/>
              <a:t>Modeling</a:t>
            </a:r>
            <a:r>
              <a:rPr lang="en-IN" sz="2200" dirty="0"/>
              <a:t> (train multiple ML models)</a:t>
            </a:r>
          </a:p>
          <a:p>
            <a:endParaRPr lang="en-IN" sz="2200" dirty="0"/>
          </a:p>
          <a:p>
            <a:r>
              <a:rPr lang="en-IN" sz="2200" dirty="0"/>
              <a:t>Evaluation (R²,RMSE)</a:t>
            </a:r>
          </a:p>
          <a:p>
            <a:endParaRPr lang="en-IN" sz="2200" dirty="0"/>
          </a:p>
          <a:p>
            <a:r>
              <a:rPr lang="en-IN" sz="2200" dirty="0"/>
              <a:t>Deployment (</a:t>
            </a:r>
            <a:r>
              <a:rPr lang="en-IN" sz="2200" dirty="0" err="1"/>
              <a:t>Streamlit</a:t>
            </a:r>
            <a:r>
              <a:rPr lang="en-IN" sz="2200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72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2050-5264-DB26-F241-10681C92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99" y="132417"/>
            <a:ext cx="10515600" cy="916265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 :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F0A0CE-2518-11C7-87DE-1493E2046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252424"/>
              </p:ext>
            </p:extLst>
          </p:nvPr>
        </p:nvGraphicFramePr>
        <p:xfrm>
          <a:off x="1385739" y="1225485"/>
          <a:ext cx="9879292" cy="5165897"/>
        </p:xfrm>
        <a:graphic>
          <a:graphicData uri="http://schemas.openxmlformats.org/drawingml/2006/table">
            <a:tbl>
              <a:tblPr/>
              <a:tblGrid>
                <a:gridCol w="4939646">
                  <a:extLst>
                    <a:ext uri="{9D8B030D-6E8A-4147-A177-3AD203B41FA5}">
                      <a16:colId xmlns:a16="http://schemas.microsoft.com/office/drawing/2014/main" val="1915317743"/>
                    </a:ext>
                  </a:extLst>
                </a:gridCol>
                <a:gridCol w="4939646">
                  <a:extLst>
                    <a:ext uri="{9D8B030D-6E8A-4147-A177-3AD203B41FA5}">
                      <a16:colId xmlns:a16="http://schemas.microsoft.com/office/drawing/2014/main" val="2189404040"/>
                    </a:ext>
                  </a:extLst>
                </a:gridCol>
              </a:tblGrid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Column Name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Description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746866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rider_id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Unique identifier for each delivery partner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28979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age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Age of the delivery partner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399519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ratings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Average customer rating of the rider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23202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vehicle_condition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Condition of vehicle (0 = Poor, 1 = Average, 2 = Good)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89289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type_of_vehicle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Vehicle used for delivery (motorcycle, scooter, etc.)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25291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type_of_order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Type of food ordered (snack, meal, drinks, buffet)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24077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multiple_deliveries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Number of deliveries assigned in a single trip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00398"/>
                  </a:ext>
                </a:extLst>
              </a:tr>
              <a:tr h="31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pickup_time_minutes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Time taken by restaurant to prepare the order (minutes)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233555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restaurant_longitude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Longitude of the restaurant location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335857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delivery_longitude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Longitude of the customer delivery location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774695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is_weekend</a:t>
                      </a:r>
                      <a:endParaRPr lang="en-IN" sz="800" dirty="0"/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Whether the order was placed on a weekend (Yes/No)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150686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order_time_hour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Hour when the order was placed (0–23)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459692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order_time_of_day</a:t>
                      </a:r>
                      <a:endParaRPr lang="en-IN" sz="800" dirty="0"/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Time bucket (morning, afternoon, evening, night)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775759"/>
                  </a:ext>
                </a:extLst>
              </a:tr>
              <a:tr h="31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weather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Weather during delivery (sunny, cloudy, fog, stormy, sandstorms)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455251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traffic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Traffic condition during delivery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45962"/>
                  </a:ext>
                </a:extLst>
              </a:tr>
              <a:tr h="31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festival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Whether the order was placed on a festival day (Yes/No)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56257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city_type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Classification of city (urban, metropolitan)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900910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city_name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Name/code of the city (BANG, HYD, CHEN, etc.)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760723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time_taken</a:t>
                      </a:r>
                      <a:endParaRPr lang="en-IN" sz="800" dirty="0"/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Actual delivery time (minutes) — </a:t>
                      </a:r>
                      <a:r>
                        <a:rPr lang="en-US" sz="800" b="1"/>
                        <a:t>Target Variable</a:t>
                      </a:r>
                      <a:endParaRPr lang="en-US" sz="800"/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930741"/>
                  </a:ext>
                </a:extLst>
              </a:tr>
              <a:tr h="31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distance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Distance between restaurant and delivery location (km)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998262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order_date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Date when the order was placed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967133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order_day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Day of the month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802680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order_month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Month of the order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030245"/>
                  </a:ext>
                </a:extLst>
              </a:tr>
              <a:tr h="186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order_day_of_week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Day of the week (Monday–Sunday)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54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8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E1FB-96C4-F2F2-6884-1CEED87A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15" y="217863"/>
            <a:ext cx="10515600" cy="926347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BD8C-8700-49CE-4D25-EAF42428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03" y="1291472"/>
            <a:ext cx="10684497" cy="4885491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Checked:</a:t>
            </a:r>
          </a:p>
          <a:p>
            <a:pPr marL="228600" lvl="1">
              <a:spcBef>
                <a:spcPts val="1000"/>
              </a:spcBef>
            </a:pPr>
            <a:r>
              <a:rPr lang="en-US" sz="2200" dirty="0"/>
              <a:t>Dataset shape</a:t>
            </a:r>
          </a:p>
          <a:p>
            <a:pPr marL="228600" lvl="1">
              <a:spcBef>
                <a:spcPts val="1000"/>
              </a:spcBef>
            </a:pPr>
            <a:r>
              <a:rPr lang="en-US" sz="2200" dirty="0"/>
              <a:t>Data types</a:t>
            </a:r>
          </a:p>
          <a:p>
            <a:pPr marL="228600" lvl="1">
              <a:spcBef>
                <a:spcPts val="1000"/>
              </a:spcBef>
            </a:pPr>
            <a:r>
              <a:rPr lang="en-US" sz="2200" dirty="0"/>
              <a:t>Missing values</a:t>
            </a:r>
          </a:p>
          <a:p>
            <a:pPr marL="228600" lvl="1">
              <a:spcBef>
                <a:spcPts val="1000"/>
              </a:spcBef>
            </a:pPr>
            <a:r>
              <a:rPr lang="en-US" sz="2200" dirty="0"/>
              <a:t>Duplicates</a:t>
            </a:r>
          </a:p>
          <a:p>
            <a:r>
              <a:rPr lang="en-US" sz="2200" dirty="0"/>
              <a:t>Visualized distributions using KDE plots.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436B0-80F2-D6BF-C36B-009C32669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269" y="1144210"/>
            <a:ext cx="3425587" cy="444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4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F257-DC15-8FA1-917C-3F297BD9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30" y="355698"/>
            <a:ext cx="10515600" cy="879213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2256-0085-4D2D-3320-44CC06226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6"/>
          </a:xfrm>
        </p:spPr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endParaRPr lang="en-IN" sz="2200" dirty="0"/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Imputed missing values using:</a:t>
            </a:r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Rider-wise mean (age, ratings)</a:t>
            </a:r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Mode (weather, traffic, festival, city type)</a:t>
            </a:r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Median (multiple deliveries)</a:t>
            </a:r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Domain-based values (pickup time)</a:t>
            </a:r>
          </a:p>
          <a:p>
            <a:pPr marL="228600" lvl="1">
              <a:spcBef>
                <a:spcPts val="1000"/>
              </a:spcBef>
            </a:pPr>
            <a:r>
              <a:rPr lang="en-IN" sz="2200" dirty="0"/>
              <a:t>Ensured dataset had no nulls.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120B1-D4E2-BECE-1DC4-D33B66D3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064" y="948032"/>
            <a:ext cx="2911092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9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7FCF-93B8-3223-B90B-CD64F686F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2" y="317991"/>
            <a:ext cx="10515600" cy="879213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 Categorical Variables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81D21-8A3F-B762-1E52-075219F57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461" y="1583703"/>
            <a:ext cx="10590229" cy="4866637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sz="2200" dirty="0"/>
              <a:t>Converted categorical features to numeric:</a:t>
            </a:r>
          </a:p>
          <a:p>
            <a:pPr marL="228600" lvl="1">
              <a:spcBef>
                <a:spcPts val="1000"/>
              </a:spcBef>
            </a:pPr>
            <a:endParaRPr lang="en-US" sz="2200" dirty="0"/>
          </a:p>
          <a:p>
            <a:pPr marL="228600" lvl="1">
              <a:spcBef>
                <a:spcPts val="1000"/>
              </a:spcBef>
            </a:pPr>
            <a:r>
              <a:rPr lang="en-IN" sz="2200" b="1" dirty="0"/>
              <a:t>One-Hot Encoding :</a:t>
            </a:r>
            <a:r>
              <a:rPr lang="en-IN" sz="2200" dirty="0"/>
              <a:t> </a:t>
            </a:r>
            <a:r>
              <a:rPr lang="en-US" sz="2200" dirty="0"/>
              <a:t>weather, order type, vehicle type, city, time of day</a:t>
            </a:r>
          </a:p>
          <a:p>
            <a:pPr marL="228600" lvl="1">
              <a:spcBef>
                <a:spcPts val="1000"/>
              </a:spcBef>
            </a:pPr>
            <a:endParaRPr lang="en-US" sz="2200" dirty="0"/>
          </a:p>
          <a:p>
            <a:pPr marL="228600" lvl="1">
              <a:spcBef>
                <a:spcPts val="1000"/>
              </a:spcBef>
            </a:pPr>
            <a:r>
              <a:rPr lang="en-US" sz="2200" b="1" dirty="0"/>
              <a:t>Ordinal Encoding : </a:t>
            </a:r>
            <a:r>
              <a:rPr lang="en-US" sz="2200" dirty="0"/>
              <a:t>traffic (low &lt; medium &lt; high &lt; jam)</a:t>
            </a:r>
          </a:p>
          <a:p>
            <a:pPr marL="228600" lvl="1">
              <a:spcBef>
                <a:spcPts val="1000"/>
              </a:spcBef>
            </a:pPr>
            <a:endParaRPr lang="en-US" sz="2200" dirty="0"/>
          </a:p>
          <a:p>
            <a:pPr marL="228600" lvl="1">
              <a:spcBef>
                <a:spcPts val="1000"/>
              </a:spcBef>
            </a:pPr>
            <a:r>
              <a:rPr lang="en-US" sz="2200" dirty="0"/>
              <a:t>Removed original categorical columns after encoding.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54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1D26-AC8A-D960-9888-1A1DBC27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396" y="346272"/>
            <a:ext cx="10515600" cy="81322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B1465-83E6-6346-100F-92C6BE8BC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30" y="1442301"/>
            <a:ext cx="10675070" cy="4734662"/>
          </a:xfrm>
        </p:spPr>
        <p:txBody>
          <a:bodyPr/>
          <a:lstStyle/>
          <a:p>
            <a:r>
              <a:rPr lang="en-US" sz="2200" dirty="0"/>
              <a:t>Applied </a:t>
            </a:r>
            <a:r>
              <a:rPr lang="en-US" sz="2200" b="1" dirty="0" err="1"/>
              <a:t>StandardScaler</a:t>
            </a:r>
            <a:r>
              <a:rPr lang="en-US" sz="2200" b="1" dirty="0"/>
              <a:t>  </a:t>
            </a:r>
            <a:r>
              <a:rPr lang="en-US" sz="2200" dirty="0"/>
              <a:t>to numerical features :</a:t>
            </a:r>
          </a:p>
          <a:p>
            <a:endParaRPr lang="en-US" sz="2200" dirty="0"/>
          </a:p>
          <a:p>
            <a:r>
              <a:rPr lang="en-US" sz="2200" dirty="0"/>
              <a:t>age, ratings, distance, order time, pickup time, traffic, etc.</a:t>
            </a:r>
          </a:p>
          <a:p>
            <a:endParaRPr lang="en-US" sz="2200" dirty="0"/>
          </a:p>
          <a:p>
            <a:r>
              <a:rPr lang="en-US" sz="2200" dirty="0"/>
              <a:t>Purpose:</a:t>
            </a:r>
          </a:p>
          <a:p>
            <a:endParaRPr lang="en-US" sz="2200" dirty="0"/>
          </a:p>
          <a:p>
            <a:pPr lvl="1"/>
            <a:r>
              <a:rPr lang="en-US" sz="2200" dirty="0"/>
              <a:t>Bring features to same scale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Improve model performance &amp; stability.</a:t>
            </a:r>
          </a:p>
          <a:p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37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A939-D4BB-A9A8-B0BF-DB798D34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57" y="365126"/>
            <a:ext cx="10515600" cy="982908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1C5E-70A8-3B1F-541A-D214D369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30" y="1508289"/>
            <a:ext cx="10675070" cy="4668674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Used multiple techniques:</a:t>
            </a:r>
          </a:p>
          <a:p>
            <a:r>
              <a:rPr lang="en-US" sz="2200" dirty="0"/>
              <a:t>Correlation analysis with target</a:t>
            </a:r>
          </a:p>
          <a:p>
            <a:r>
              <a:rPr lang="en-US" sz="2200" dirty="0"/>
              <a:t>SelectKBest </a:t>
            </a:r>
          </a:p>
          <a:p>
            <a:r>
              <a:rPr lang="en-US" sz="2200" dirty="0"/>
              <a:t>Mutual Information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Final selected features:</a:t>
            </a:r>
          </a:p>
          <a:p>
            <a:r>
              <a:rPr lang="en-US" sz="2200" dirty="0"/>
              <a:t>age, ratings, vehicle_condition, multiple_deliveries, distance</a:t>
            </a:r>
          </a:p>
          <a:p>
            <a:r>
              <a:rPr lang="en-US" sz="2200" dirty="0"/>
              <a:t>traffic, festival_yes, order_time_hour</a:t>
            </a:r>
          </a:p>
          <a:p>
            <a:r>
              <a:rPr lang="en-US" sz="2200" dirty="0"/>
              <a:t>order_time_of_day_morning, weather_sunny, city_type_urban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013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0BE1-533A-D84E-AE8E-A9753C47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4" y="327418"/>
            <a:ext cx="10515600" cy="86978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Building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31409-3E5E-9EB4-6063-95980342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4" y="1432874"/>
            <a:ext cx="10515600" cy="4706382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/>
              <a:t>Trained and compared :</a:t>
            </a:r>
          </a:p>
          <a:p>
            <a:r>
              <a:rPr lang="en-IN" sz="2200" dirty="0"/>
              <a:t> Linear Regression </a:t>
            </a:r>
          </a:p>
          <a:p>
            <a:r>
              <a:rPr lang="en-IN" sz="2200" dirty="0"/>
              <a:t> Decision Tree</a:t>
            </a:r>
          </a:p>
          <a:p>
            <a:r>
              <a:rPr lang="en-IN" sz="2200" dirty="0"/>
              <a:t> KNN</a:t>
            </a:r>
          </a:p>
          <a:p>
            <a:r>
              <a:rPr lang="en-IN" sz="2200" dirty="0"/>
              <a:t> Ridge &amp; Lasso</a:t>
            </a:r>
          </a:p>
          <a:p>
            <a:r>
              <a:rPr lang="en-IN" sz="2200" dirty="0"/>
              <a:t> </a:t>
            </a:r>
            <a:r>
              <a:rPr lang="en-IN" sz="2200" b="1" dirty="0"/>
              <a:t>Random Forest </a:t>
            </a:r>
            <a:r>
              <a:rPr lang="en-IN" sz="2200" dirty="0"/>
              <a:t>(Best performer)</a:t>
            </a:r>
          </a:p>
          <a:p>
            <a:r>
              <a:rPr lang="en-IN" sz="2200" dirty="0"/>
              <a:t> Metric used: R² Score</a:t>
            </a:r>
          </a:p>
        </p:txBody>
      </p:sp>
    </p:spTree>
    <p:extLst>
      <p:ext uri="{BB962C8B-B14F-4D97-AF65-F5344CB8AC3E}">
        <p14:creationId xmlns:p14="http://schemas.microsoft.com/office/powerpoint/2010/main" val="3022356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FC1A-5102-913D-F016-29C6FB92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42" y="346272"/>
            <a:ext cx="10515600" cy="888640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Cross-Validation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BD2A-6E00-4AAB-441F-592435B0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1621410"/>
            <a:ext cx="10646790" cy="4555553"/>
          </a:xfrm>
        </p:spPr>
        <p:txBody>
          <a:bodyPr/>
          <a:lstStyle/>
          <a:p>
            <a:r>
              <a:rPr lang="en-IN" sz="2200" dirty="0"/>
              <a:t>Used </a:t>
            </a:r>
            <a:r>
              <a:rPr lang="en-IN" sz="2200" b="1" dirty="0"/>
              <a:t>5-Fold Cross Validation.</a:t>
            </a:r>
          </a:p>
          <a:p>
            <a:r>
              <a:rPr lang="en-IN" sz="2200" dirty="0"/>
              <a:t>Purpose:</a:t>
            </a:r>
            <a:br>
              <a:rPr lang="en-IN" sz="2200" dirty="0"/>
            </a:br>
            <a:r>
              <a:rPr lang="en-IN" sz="2200" dirty="0"/>
              <a:t>    Ensure stable performance</a:t>
            </a:r>
            <a:br>
              <a:rPr lang="en-IN" sz="2200" dirty="0"/>
            </a:br>
            <a:r>
              <a:rPr lang="en-IN" sz="2200" dirty="0"/>
              <a:t>    </a:t>
            </a:r>
            <a:r>
              <a:rPr lang="en-US" sz="2200" dirty="0"/>
              <a:t>Reduce dependency on one train-test split</a:t>
            </a:r>
          </a:p>
          <a:p>
            <a:r>
              <a:rPr lang="en-US" sz="2200" dirty="0"/>
              <a:t>Random Forest showed consistent R² across folds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830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10CD-5965-8F10-4318-A5CF6D92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30" y="336846"/>
            <a:ext cx="10515600" cy="86978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CC115B-3B88-B3E8-9AFA-B97AB3033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529" y="1468675"/>
            <a:ext cx="982351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/>
              <a:t>Applied: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GridSearchCV (exhaustive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RandomizedSearchCV (faster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dirty="0"/>
              <a:t>Tuned parameters: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n_estimators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max_depth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min_samples_split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min_samples_leaf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max_features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Selected best parameters for final model.</a:t>
            </a:r>
          </a:p>
        </p:txBody>
      </p:sp>
    </p:spTree>
    <p:extLst>
      <p:ext uri="{BB962C8B-B14F-4D97-AF65-F5344CB8AC3E}">
        <p14:creationId xmlns:p14="http://schemas.microsoft.com/office/powerpoint/2010/main" val="3394421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FEDE-6504-65FB-7441-94D18251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9" y="365125"/>
            <a:ext cx="10731631" cy="945201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 &amp; Performance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5236-201D-4288-E48B-91C238CB4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69" y="1574276"/>
            <a:ext cx="10731631" cy="4602687"/>
          </a:xfrm>
        </p:spPr>
        <p:txBody>
          <a:bodyPr/>
          <a:lstStyle/>
          <a:p>
            <a:r>
              <a:rPr lang="en-US" sz="2200" dirty="0"/>
              <a:t>Final model: Random Forest Regressor</a:t>
            </a:r>
            <a:r>
              <a:rPr lang="en-US" sz="2200" b="1" dirty="0"/>
              <a:t> </a:t>
            </a:r>
            <a:r>
              <a:rPr lang="en-US" sz="2200" dirty="0"/>
              <a:t>(tuned)</a:t>
            </a:r>
          </a:p>
          <a:p>
            <a:endParaRPr lang="en-US" sz="2200" dirty="0"/>
          </a:p>
          <a:p>
            <a:r>
              <a:rPr lang="en-US" sz="2200" dirty="0"/>
              <a:t>Trained on full dataset using selected features.</a:t>
            </a:r>
          </a:p>
          <a:p>
            <a:endParaRPr lang="en-US" sz="2200" dirty="0"/>
          </a:p>
          <a:p>
            <a:r>
              <a:rPr lang="en-US" sz="2200" dirty="0"/>
              <a:t>Achieved strong R² and stable  performance.</a:t>
            </a:r>
          </a:p>
          <a:p>
            <a:endParaRPr lang="en-US" sz="2200" dirty="0"/>
          </a:p>
          <a:p>
            <a:r>
              <a:rPr lang="en-US" sz="2200" dirty="0"/>
              <a:t>Model ready for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368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B991-0F5A-8840-E480-96E166C7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81" y="365126"/>
            <a:ext cx="10797619" cy="954628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9ED96-A125-3FB4-5385-72EC0150F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57" y="1480008"/>
            <a:ext cx="10665643" cy="4696955"/>
          </a:xfrm>
        </p:spPr>
        <p:txBody>
          <a:bodyPr/>
          <a:lstStyle/>
          <a:p>
            <a:r>
              <a:rPr lang="en-US" sz="2200" dirty="0"/>
              <a:t>Saved model and feature order using pickle.</a:t>
            </a:r>
          </a:p>
          <a:p>
            <a:r>
              <a:rPr lang="en-US" sz="2200" dirty="0"/>
              <a:t>Built </a:t>
            </a:r>
            <a:r>
              <a:rPr lang="en-US" sz="2200" dirty="0" err="1"/>
              <a:t>Streamlit</a:t>
            </a:r>
            <a:r>
              <a:rPr lang="en-US" sz="2200" dirty="0"/>
              <a:t> UI for real-time predictions.</a:t>
            </a:r>
          </a:p>
          <a:p>
            <a:r>
              <a:rPr lang="en-IN" sz="2200" dirty="0"/>
              <a:t>Users can input:</a:t>
            </a:r>
            <a:br>
              <a:rPr lang="en-IN" sz="2200" dirty="0"/>
            </a:br>
            <a:r>
              <a:rPr lang="en-IN" sz="2200" dirty="0"/>
              <a:t>    Rider details</a:t>
            </a:r>
            <a:br>
              <a:rPr lang="en-IN" sz="2200" dirty="0"/>
            </a:br>
            <a:r>
              <a:rPr lang="en-IN" sz="2200" dirty="0"/>
              <a:t>    Distance</a:t>
            </a:r>
            <a:br>
              <a:rPr lang="en-IN" sz="2200" dirty="0"/>
            </a:br>
            <a:r>
              <a:rPr lang="en-IN" sz="2200" dirty="0"/>
              <a:t>    Traffic</a:t>
            </a:r>
            <a:br>
              <a:rPr lang="en-IN" sz="2200" dirty="0"/>
            </a:br>
            <a:r>
              <a:rPr lang="en-IN" sz="2200" dirty="0"/>
              <a:t>    Time Features</a:t>
            </a:r>
          </a:p>
          <a:p>
            <a:r>
              <a:rPr lang="en-US" sz="2200" dirty="0"/>
              <a:t>Output</a:t>
            </a:r>
            <a:r>
              <a:rPr lang="en-US" sz="2200" b="1" dirty="0"/>
              <a:t>: Estimated Delivery Time (minutes)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13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9CE7-CBAF-8560-63CA-4160D6CA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393407"/>
            <a:ext cx="10515600" cy="916920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C6257-5BDC-FBA1-7A43-155F143F4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30" y="1555423"/>
            <a:ext cx="10675070" cy="4621540"/>
          </a:xfrm>
        </p:spPr>
        <p:txBody>
          <a:bodyPr/>
          <a:lstStyle/>
          <a:p>
            <a:r>
              <a:rPr lang="en-IN" sz="2200" dirty="0"/>
              <a:t>More accurate ETA’s : Higher Customer Trust</a:t>
            </a:r>
          </a:p>
          <a:p>
            <a:endParaRPr lang="en-IN" sz="2200" dirty="0"/>
          </a:p>
          <a:p>
            <a:r>
              <a:rPr lang="en-IN" sz="2200" dirty="0"/>
              <a:t>Reduced cancellations &amp; support tickets.</a:t>
            </a:r>
          </a:p>
          <a:p>
            <a:endParaRPr lang="en-IN" sz="2200" dirty="0"/>
          </a:p>
          <a:p>
            <a:r>
              <a:rPr lang="en-US" sz="2200" dirty="0"/>
              <a:t>Better rider allocation &amp; operational efficiency</a:t>
            </a:r>
          </a:p>
          <a:p>
            <a:endParaRPr lang="en-US" sz="2200" dirty="0"/>
          </a:p>
          <a:p>
            <a:r>
              <a:rPr lang="en-IN" sz="2200" dirty="0"/>
              <a:t>Scalable ML solution for production.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9974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74A0-A47B-36E4-0FCF-3FA099AE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11" y="365126"/>
            <a:ext cx="10515600" cy="822652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964B-87D3-0ECC-2A05-0F7CE1E13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18" y="1480008"/>
            <a:ext cx="10609082" cy="4696955"/>
          </a:xfrm>
        </p:spPr>
        <p:txBody>
          <a:bodyPr/>
          <a:lstStyle/>
          <a:p>
            <a:r>
              <a:rPr lang="en-US" sz="2200" dirty="0"/>
              <a:t>Handling missing values without losing data</a:t>
            </a:r>
          </a:p>
          <a:p>
            <a:endParaRPr lang="en-US" sz="2200" dirty="0"/>
          </a:p>
          <a:p>
            <a:r>
              <a:rPr lang="en-US" sz="2200" dirty="0"/>
              <a:t>Encoding high-cardinality features (</a:t>
            </a:r>
            <a:r>
              <a:rPr lang="en-US" sz="2200" dirty="0" err="1"/>
              <a:t>city_name</a:t>
            </a:r>
            <a:r>
              <a:rPr lang="en-US" sz="2200" dirty="0"/>
              <a:t>)</a:t>
            </a:r>
          </a:p>
          <a:p>
            <a:endParaRPr lang="en-US" sz="2200" dirty="0"/>
          </a:p>
          <a:p>
            <a:r>
              <a:rPr lang="en-IN" sz="2200" dirty="0"/>
              <a:t>Choosing best model among many</a:t>
            </a:r>
          </a:p>
          <a:p>
            <a:endParaRPr lang="en-IN" sz="2200" dirty="0"/>
          </a:p>
          <a:p>
            <a:r>
              <a:rPr lang="en-IN" sz="2200" dirty="0"/>
              <a:t>Preventing Overfitting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717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DD18-F652-9E41-45B6-620515A9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23" y="365126"/>
            <a:ext cx="10712777" cy="869786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F88C-F513-4B74-4097-06039D0B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9"/>
            <a:ext cx="10515600" cy="4640394"/>
          </a:xfrm>
        </p:spPr>
        <p:txBody>
          <a:bodyPr/>
          <a:lstStyle/>
          <a:p>
            <a:r>
              <a:rPr lang="en-US" sz="2200" dirty="0"/>
              <a:t>Built a complete ML solution for ETA prediction</a:t>
            </a:r>
          </a:p>
          <a:p>
            <a:endParaRPr lang="en-US" sz="2200" dirty="0"/>
          </a:p>
          <a:p>
            <a:r>
              <a:rPr lang="en-US" sz="2200" dirty="0"/>
              <a:t>Followed industry methodology (CRISP-ML(Q))</a:t>
            </a:r>
          </a:p>
          <a:p>
            <a:endParaRPr lang="en-US" sz="2200" dirty="0"/>
          </a:p>
          <a:p>
            <a:r>
              <a:rPr lang="en-US" sz="2200" dirty="0"/>
              <a:t>Deployed as a real-time web application</a:t>
            </a:r>
          </a:p>
          <a:p>
            <a:endParaRPr lang="en-US" sz="2200" dirty="0"/>
          </a:p>
          <a:p>
            <a:r>
              <a:rPr lang="en-US" sz="2200" dirty="0"/>
              <a:t>Ready for real-world extension and scaling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643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2588</TotalTime>
  <Words>1128</Words>
  <Application>Microsoft Office PowerPoint</Application>
  <PresentationFormat>Widescreen</PresentationFormat>
  <Paragraphs>210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 Light</vt:lpstr>
      <vt:lpstr>Times New Roman</vt:lpstr>
      <vt:lpstr>Calibri</vt:lpstr>
      <vt:lpstr>Lato Black</vt:lpstr>
      <vt:lpstr>Libre Baskerville</vt:lpstr>
      <vt:lpstr>Arial</vt:lpstr>
      <vt:lpstr>Office Theme</vt:lpstr>
      <vt:lpstr>PowerPoint Presentation</vt:lpstr>
      <vt:lpstr>About me</vt:lpstr>
      <vt:lpstr>AGENDA :</vt:lpstr>
      <vt:lpstr>Business Problem :</vt:lpstr>
      <vt:lpstr>Problem Statement :</vt:lpstr>
      <vt:lpstr>CRISP-ML(Q) Methodology :</vt:lpstr>
      <vt:lpstr>Dataset Overview :</vt:lpstr>
      <vt:lpstr>Data Understanding :</vt:lpstr>
      <vt:lpstr>Data Preprocessing :</vt:lpstr>
      <vt:lpstr>Encoding Categorical Variables :</vt:lpstr>
      <vt:lpstr>Feature Scaling :</vt:lpstr>
      <vt:lpstr>Feature Selection :</vt:lpstr>
      <vt:lpstr>Model Building :</vt:lpstr>
      <vt:lpstr>Cross-Validation :</vt:lpstr>
      <vt:lpstr>Hyperparameter Tuning :</vt:lpstr>
      <vt:lpstr>Final Model &amp; Performance :</vt:lpstr>
      <vt:lpstr>Deployment (Streamlit) :</vt:lpstr>
      <vt:lpstr>Business Impact :</vt:lpstr>
      <vt:lpstr>Challenges Faced :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srikar emmadi</cp:lastModifiedBy>
  <cp:revision>50</cp:revision>
  <dcterms:created xsi:type="dcterms:W3CDTF">2021-02-16T05:19:01Z</dcterms:created>
  <dcterms:modified xsi:type="dcterms:W3CDTF">2026-02-25T09:12:36Z</dcterms:modified>
</cp:coreProperties>
</file>